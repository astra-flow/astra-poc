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45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extBox 1"/>
          <p:cNvSpPr txBox="1"/>
          <p:nvPr/>
        </p:nvSpPr>
        <p:spPr>
          <a:xfrm>
            <a:off x="720000" y="1080000"/>
            <a:ext cx="10440000" cy="900000"/>
          </a:xfrm>
          <a:prstGeom prst="rect">
            <a:avLst/>
          </a:prstGeom>
        </p:spPr>
        <p:txBody>
          <a:bodyPr/>
          <a:lstStyle/>
          <a:p>
            <a:r>
              <a:rPr lang="en-US" sz="4000" b="1">
                <a:solidFill>
                  <a:srgbClr val="1A1A2E"/>
                </a:solidFill>
                <a:latin typeface="Arial"/>
                <a:ea typeface="Arial"/>
              </a:rPr>
              <a:t>Vibe Coding 实战工作坊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720000" y="2160000"/>
            <a:ext cx="10440000" cy="540000"/>
          </a:xfrm>
          <a:prstGeom prst="rect">
            <a:avLst/>
          </a:prstGeom>
        </p:spPr>
        <p:txBody>
          <a:bodyPr/>
          <a:lstStyle/>
          <a:p>
            <a:r>
              <a:rPr lang="en-US" sz="2000" dirty="0">
                <a:solidFill>
                  <a:srgbClr val="666666"/>
                </a:solidFill>
                <a:latin typeface="Arial"/>
                <a:ea typeface="Arial"/>
              </a:rPr>
              <a:t>2 </a:t>
            </a:r>
            <a:r>
              <a:rPr lang="en-US" sz="2000" dirty="0" err="1">
                <a:solidFill>
                  <a:srgbClr val="666666"/>
                </a:solidFill>
                <a:latin typeface="Arial"/>
                <a:ea typeface="Arial"/>
              </a:rPr>
              <a:t>天</a:t>
            </a:r>
            <a:r>
              <a:rPr lang="en-US" sz="2000" dirty="0">
                <a:solidFill>
                  <a:srgbClr val="666666"/>
                </a:solidFill>
                <a:latin typeface="Arial"/>
                <a:ea typeface="Arial"/>
              </a:rPr>
              <a:t> · </a:t>
            </a:r>
            <a:r>
              <a:rPr lang="en-US" sz="2000" dirty="0" err="1">
                <a:solidFill>
                  <a:srgbClr val="666666"/>
                </a:solidFill>
                <a:latin typeface="Arial"/>
                <a:ea typeface="Arial"/>
              </a:rPr>
              <a:t>用</a:t>
            </a:r>
            <a:r>
              <a:rPr lang="en-US" sz="2000" dirty="0">
                <a:solidFill>
                  <a:srgbClr val="666666"/>
                </a:solidFill>
                <a:latin typeface="Arial"/>
                <a:ea typeface="Arial"/>
              </a:rPr>
              <a:t> AI </a:t>
            </a:r>
            <a:r>
              <a:rPr lang="en-US" sz="2000" dirty="0" err="1">
                <a:solidFill>
                  <a:srgbClr val="666666"/>
                </a:solidFill>
                <a:latin typeface="Arial"/>
                <a:ea typeface="Arial"/>
              </a:rPr>
              <a:t>做出可复用、可迭代的电商运营工具</a:t>
            </a:r>
            <a:endParaRPr lang="en-US" sz="2000" dirty="0">
              <a:solidFill>
                <a:srgbClr val="666666"/>
              </a:solidFill>
              <a:latin typeface="Arial"/>
              <a:ea typeface="Arial"/>
            </a:endParaRPr>
          </a:p>
        </p:txBody>
      </p:sp>
      <p:sp>
        <p:nvSpPr>
          <p:cNvPr id="100022" name="TextBox 3"/>
          <p:cNvSpPr/>
          <p:nvPr/>
        </p:nvSpPr>
        <p:spPr>
          <a:xfrm>
            <a:off x="720000" y="1815856"/>
            <a:ext cx="5757000" cy="45719"/>
          </a:xfrm>
          <a:prstGeom prst="rect">
            <a:avLst/>
          </a:prstGeom>
          <a:solidFill>
            <a:srgbClr val="E94560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2" name="TextBox 1"/>
          <p:cNvSpPr txBox="1"/>
          <p:nvPr/>
        </p:nvSpPr>
        <p:spPr>
          <a:xfrm>
            <a:off x="720000" y="195088"/>
            <a:ext cx="1044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A1A2E"/>
                </a:solidFill>
                <a:latin typeface="Arial"/>
                <a:ea typeface="Arial"/>
              </a:rPr>
              <a:t>一、课程概览</a:t>
            </a:r>
          </a:p>
        </p:txBody>
      </p:sp>
      <p:graphicFrame>
        <p:nvGraphicFramePr>
          <p:cNvPr id="100003" name="Table 1"/>
          <p:cNvGraphicFramePr/>
          <p:nvPr>
            <p:extLst>
              <p:ext uri="{D42A27DB-BD31-4B8C-83A1-F6EECF244321}">
                <p14:modId xmlns:p14="http://schemas.microsoft.com/office/powerpoint/2010/main" val="4164041544"/>
              </p:ext>
            </p:extLst>
          </p:nvPr>
        </p:nvGraphicFramePr>
        <p:xfrm>
          <a:off x="720000" y="1231631"/>
          <a:ext cx="9720000" cy="2520000"/>
        </p:xfrm>
        <a:graphic>
          <a:graphicData uri="http://schemas.openxmlformats.org/drawingml/2006/table">
            <a:tbl>
              <a:tblPr firstRow="1" bandRow="1"/>
              <a:tblGrid>
                <a:gridCol w="2513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69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0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项目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b="1"/>
                        <a:t>时长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 天（每天 7 小时）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b="1"/>
                        <a:t>学员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已有 AI 使用基础，能手搓 HTML 或小工具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b="1"/>
                        <a:t>Day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掌握 Vibe Coding 系统方法，独立完成一个电商场景小应用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000">
                <a:tc>
                  <a:txBody>
                    <a:bodyPr/>
                    <a:lstStyle/>
                    <a:p>
                      <a:r>
                        <a:rPr lang="en-US" b="1"/>
                        <a:t>Day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学会沉淀可复用经验，团队协作完成</a:t>
                      </a:r>
                      <a:r>
                        <a:rPr lang="en-US" dirty="0"/>
                        <a:t> Hackathon </a:t>
                      </a:r>
                      <a:r>
                        <a:rPr lang="en-US" dirty="0" err="1"/>
                        <a:t>项目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0023" name="TextBox 2"/>
          <p:cNvSpPr/>
          <p:nvPr/>
        </p:nvSpPr>
        <p:spPr>
          <a:xfrm>
            <a:off x="720000" y="807088"/>
            <a:ext cx="2160000" cy="216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4" name="TextBox 1"/>
          <p:cNvSpPr txBox="1"/>
          <p:nvPr/>
        </p:nvSpPr>
        <p:spPr>
          <a:xfrm>
            <a:off x="720000" y="195088"/>
            <a:ext cx="10440000" cy="540000"/>
          </a:xfrm>
          <a:prstGeom prst="rect">
            <a:avLst/>
          </a:prstGeom>
        </p:spPr>
        <p:txBody>
          <a:bodyPr/>
          <a:lstStyle/>
          <a:p>
            <a:r>
              <a:rPr lang="en-US" sz="2400" b="1">
                <a:solidFill>
                  <a:srgbClr val="1A1A2E"/>
                </a:solidFill>
                <a:latin typeface="Arial"/>
                <a:ea typeface="Arial"/>
              </a:rPr>
              <a:t>二、课程安排 — Day 1：Vibe Coding 系统化</a:t>
            </a:r>
          </a:p>
        </p:txBody>
      </p:sp>
      <p:graphicFrame>
        <p:nvGraphicFramePr>
          <p:cNvPr id="100005" name="Table 1"/>
          <p:cNvGraphicFramePr/>
          <p:nvPr>
            <p:extLst>
              <p:ext uri="{D42A27DB-BD31-4B8C-83A1-F6EECF244321}">
                <p14:modId xmlns:p14="http://schemas.microsoft.com/office/powerpoint/2010/main" val="3786807183"/>
              </p:ext>
            </p:extLst>
          </p:nvPr>
        </p:nvGraphicFramePr>
        <p:xfrm>
          <a:off x="719999" y="1188088"/>
          <a:ext cx="10440000" cy="3520320"/>
        </p:xfrm>
        <a:graphic>
          <a:graphicData uri="http://schemas.openxmlformats.org/drawingml/2006/table">
            <a:tbl>
              <a:tblPr firstRow="1" bandRow="1"/>
              <a:tblGrid>
                <a:gridCol w="2382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72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环节</a:t>
                      </a:r>
                    </a:p>
                  </a:txBody>
                  <a:tcPr>
                    <a:solidFill>
                      <a:srgbClr val="0984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098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lang="en-US" b="1"/>
                        <a:t>① 开场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从 Andrej Karpathy 2025 年创造的概念讲起——用自然语言描述意图，AI 生成代码，你来审查和迭代。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lang="en-US" b="1"/>
                        <a:t>② 结构化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从"随手写 prompt 碰运气"到"结构化描述，效果稳定可预期"。实操：用结构化方法重写课前作业，对比差异。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lang="en-US" b="1"/>
                        <a:t>③ 工具链实操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从需求描述到一键部署的全流程。讲师演示 + 学员跟做。实操：搭建「电商数据查询工具」，30 分钟内拿到可分享链接。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lang="en-US" b="1"/>
                        <a:t>④ 电商场景实战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覆盖数据运营（日报自动化）、直播运营（数据看板）、客服（智能知识库）、通用（竞品监控）四大场景。每人选自己岗位的场景搭建 MVP。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lang="en-US" b="1"/>
                        <a:t>⑤ 成果展示+组队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每人展示</a:t>
                      </a:r>
                      <a:r>
                        <a:rPr lang="en-US" dirty="0"/>
                        <a:t> Day 1 </a:t>
                      </a:r>
                      <a:r>
                        <a:rPr lang="en-US" dirty="0" err="1"/>
                        <a:t>作品，讲师点评。自由组队，为</a:t>
                      </a:r>
                      <a:r>
                        <a:rPr lang="en-US" dirty="0"/>
                        <a:t> Day 2 Hackathon </a:t>
                      </a:r>
                      <a:r>
                        <a:rPr lang="en-US" dirty="0" err="1"/>
                        <a:t>选题</a:t>
                      </a:r>
                      <a:r>
                        <a:rPr lang="en-US" dirty="0"/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0024" name="TextBox 2"/>
          <p:cNvSpPr/>
          <p:nvPr/>
        </p:nvSpPr>
        <p:spPr>
          <a:xfrm>
            <a:off x="720000" y="807088"/>
            <a:ext cx="2160000" cy="21600"/>
          </a:xfrm>
          <a:prstGeom prst="rect">
            <a:avLst/>
          </a:prstGeom>
          <a:solidFill>
            <a:srgbClr val="0984E3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6" name="TextBox 1"/>
          <p:cNvSpPr txBox="1"/>
          <p:nvPr/>
        </p:nvSpPr>
        <p:spPr>
          <a:xfrm>
            <a:off x="720000" y="195088"/>
            <a:ext cx="10440000" cy="540000"/>
          </a:xfrm>
          <a:prstGeom prst="rect">
            <a:avLst/>
          </a:prstGeom>
        </p:spPr>
        <p:txBody>
          <a:bodyPr/>
          <a:lstStyle/>
          <a:p>
            <a:r>
              <a:rPr lang="en-US" sz="2400" b="1">
                <a:solidFill>
                  <a:srgbClr val="1A1A2E"/>
                </a:solidFill>
                <a:latin typeface="Arial"/>
                <a:ea typeface="Arial"/>
              </a:rPr>
              <a:t>二、课程安排 — Day 2：经验沉淀 + Hackathon</a:t>
            </a:r>
          </a:p>
        </p:txBody>
      </p:sp>
      <p:graphicFrame>
        <p:nvGraphicFramePr>
          <p:cNvPr id="100007" name="Table 1"/>
          <p:cNvGraphicFramePr/>
          <p:nvPr>
            <p:extLst>
              <p:ext uri="{D42A27DB-BD31-4B8C-83A1-F6EECF244321}">
                <p14:modId xmlns:p14="http://schemas.microsoft.com/office/powerpoint/2010/main" val="2581173251"/>
              </p:ext>
            </p:extLst>
          </p:nvPr>
        </p:nvGraphicFramePr>
        <p:xfrm>
          <a:off x="720000" y="1166317"/>
          <a:ext cx="10440000" cy="2644560"/>
        </p:xfrm>
        <a:graphic>
          <a:graphicData uri="http://schemas.openxmlformats.org/drawingml/2006/table">
            <a:tbl>
              <a:tblPr firstRow="1" bandRow="1"/>
              <a:tblGrid>
                <a:gridCol w="2408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31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00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环节</a:t>
                      </a:r>
                    </a:p>
                  </a:txBody>
                  <a:tcPr>
                    <a:solidFill>
                      <a:srgbClr val="E170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>
                    <a:solidFill>
                      <a:srgbClr val="E170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lang="en-US" b="1"/>
                        <a:t>⑥ 经验沉淀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讲解如何把数据口径、设计规范、常见坑写成 AI 可读的知识模板。实操：为 Day 1 的项目写模板，再用模板让 AI 重新生成，对比前后差异。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lang="en-US" b="1"/>
                        <a:t>⑦ 团队 Hackathon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2-3 人一组，电商场景自由选题。要求：必须部署上线 + 产出至少一个可复用模板。推荐选题：直播数据看板、客服知识库 Chatbot、大促作战指挥屏、运营日报自动生成器、差评智能分析工具。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0000">
                <a:tc>
                  <a:txBody>
                    <a:bodyPr/>
                    <a:lstStyle/>
                    <a:p>
                      <a:r>
                        <a:rPr lang="en-US" b="1"/>
                        <a:t>⑧ 项目展示+总结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每组演示</a:t>
                      </a:r>
                      <a:r>
                        <a:rPr lang="en-US" dirty="0"/>
                        <a:t> + </a:t>
                      </a:r>
                      <a:r>
                        <a:rPr lang="en-US" dirty="0" err="1"/>
                        <a:t>点评。讲师总结高频问题与最佳实践。课后作业：完善项目</a:t>
                      </a:r>
                      <a:r>
                        <a:rPr lang="en-US" dirty="0"/>
                        <a:t> + </a:t>
                      </a:r>
                      <a:r>
                        <a:rPr lang="en-US" dirty="0" err="1"/>
                        <a:t>收集改进点</a:t>
                      </a:r>
                      <a:r>
                        <a:rPr lang="en-US" dirty="0"/>
                        <a:t>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0025" name="TextBox 2"/>
          <p:cNvSpPr/>
          <p:nvPr/>
        </p:nvSpPr>
        <p:spPr>
          <a:xfrm>
            <a:off x="720000" y="807088"/>
            <a:ext cx="2160000" cy="21600"/>
          </a:xfrm>
          <a:prstGeom prst="rect">
            <a:avLst/>
          </a:prstGeom>
          <a:solidFill>
            <a:srgbClr val="E17055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8" name="TextBox 1"/>
          <p:cNvSpPr txBox="1"/>
          <p:nvPr/>
        </p:nvSpPr>
        <p:spPr>
          <a:xfrm>
            <a:off x="720000" y="195088"/>
            <a:ext cx="1044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A1A2E"/>
                </a:solidFill>
                <a:latin typeface="Arial"/>
                <a:ea typeface="Arial"/>
              </a:rPr>
              <a:t>三、学员收获</a:t>
            </a:r>
          </a:p>
        </p:txBody>
      </p:sp>
      <p:graphicFrame>
        <p:nvGraphicFramePr>
          <p:cNvPr id="100009" name="Table 1"/>
          <p:cNvGraphicFramePr/>
          <p:nvPr>
            <p:extLst>
              <p:ext uri="{D42A27DB-BD31-4B8C-83A1-F6EECF244321}">
                <p14:modId xmlns:p14="http://schemas.microsoft.com/office/powerpoint/2010/main" val="899533824"/>
              </p:ext>
            </p:extLst>
          </p:nvPr>
        </p:nvGraphicFramePr>
        <p:xfrm>
          <a:off x="719999" y="1253403"/>
          <a:ext cx="10439999" cy="2520000"/>
        </p:xfrm>
        <a:graphic>
          <a:graphicData uri="http://schemas.openxmlformats.org/drawingml/2006/table">
            <a:tbl>
              <a:tblPr firstRow="1" bandRow="1"/>
              <a:tblGrid>
                <a:gridCol w="182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8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9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维度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课前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课后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b="1"/>
                        <a:t>AI 协作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随手写 prompt，碰运气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结构化 Prompt，效果稳定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b="1"/>
                        <a:t>工具链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可能只用过 ChatGPT 对话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掌握需求→开发→部署的完整链路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b="1"/>
                        <a:t>交付能力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能写出代码片段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独立交付 + 团队协作完成完整可运行的应用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b="1"/>
                        <a:t>知识沉淀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每次重新写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经验可复用、可共享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b="1"/>
                        <a:t>场景贴合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通用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电商运营场景定制，直接可用于工作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0026" name="TextBox 2"/>
          <p:cNvSpPr/>
          <p:nvPr/>
        </p:nvSpPr>
        <p:spPr>
          <a:xfrm>
            <a:off x="720000" y="807088"/>
            <a:ext cx="2160000" cy="216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0" name="TextBox 1"/>
          <p:cNvSpPr txBox="1"/>
          <p:nvPr/>
        </p:nvSpPr>
        <p:spPr>
          <a:xfrm>
            <a:off x="720000" y="195088"/>
            <a:ext cx="1044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A1A2E"/>
                </a:solidFill>
                <a:latin typeface="Arial"/>
                <a:ea typeface="Arial"/>
              </a:rPr>
              <a:t>四、Vibe Coding 的局限</a:t>
            </a:r>
          </a:p>
        </p:txBody>
      </p:sp>
      <p:graphicFrame>
        <p:nvGraphicFramePr>
          <p:cNvPr id="100011" name="Table 1"/>
          <p:cNvGraphicFramePr/>
          <p:nvPr>
            <p:extLst>
              <p:ext uri="{D42A27DB-BD31-4B8C-83A1-F6EECF244321}">
                <p14:modId xmlns:p14="http://schemas.microsoft.com/office/powerpoint/2010/main" val="3562806186"/>
              </p:ext>
            </p:extLst>
          </p:nvPr>
        </p:nvGraphicFramePr>
        <p:xfrm>
          <a:off x="719999" y="1148008"/>
          <a:ext cx="10440000" cy="2160000"/>
        </p:xfrm>
        <a:graphic>
          <a:graphicData uri="http://schemas.openxmlformats.org/drawingml/2006/table">
            <a:tbl>
              <a:tblPr firstRow="1" bandRow="1"/>
              <a:tblGrid>
                <a:gridCol w="4428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110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00"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能解决的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>
                          <a:solidFill>
                            <a:srgbClr val="FFFFFF"/>
                          </a:solidFill>
                        </a:rPr>
                        <a:t>暂时解决不了的</a:t>
                      </a:r>
                    </a:p>
                  </a:txBody>
                  <a:tcPr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n-US"/>
                        <a:t>✓ 一个人快速搭建工具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✗ 团队多人协作时，输出质量参差不齐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n-US"/>
                        <a:t>✓ 单次对话完成一个功能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✗ 需求变更后，AI 缺乏对历史上下文的持续理解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n-US"/>
                        <a:t>✓ 快速验证想法、做出 Demo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✗ 代码质量、安全性、可维护性的系统保障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r>
                        <a:rPr lang="en-US"/>
                        <a:t>✓ 凭个人经验写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✗ </a:t>
                      </a:r>
                      <a:r>
                        <a:rPr lang="en-US" dirty="0" err="1"/>
                        <a:t>将经验体系化，让团队稳定复现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0027" name="TextBox 2"/>
          <p:cNvSpPr/>
          <p:nvPr/>
        </p:nvSpPr>
        <p:spPr>
          <a:xfrm>
            <a:off x="720000" y="807088"/>
            <a:ext cx="2160000" cy="21600"/>
          </a:xfrm>
          <a:prstGeom prst="rect">
            <a:avLst/>
          </a:prstGeom>
          <a:solidFill>
            <a:srgbClr val="0F3460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2" name="TextBox 1"/>
          <p:cNvSpPr txBox="1"/>
          <p:nvPr/>
        </p:nvSpPr>
        <p:spPr>
          <a:xfrm>
            <a:off x="720000" y="184202"/>
            <a:ext cx="1044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A1A2E"/>
                </a:solidFill>
                <a:latin typeface="Arial"/>
                <a:ea typeface="Arial"/>
              </a:rPr>
              <a:t>进阶课程：智能体工程实战</a:t>
            </a:r>
          </a:p>
        </p:txBody>
      </p:sp>
      <p:sp>
        <p:nvSpPr>
          <p:cNvPr id="100013" name="TextBox 2"/>
          <p:cNvSpPr txBox="1"/>
          <p:nvPr/>
        </p:nvSpPr>
        <p:spPr>
          <a:xfrm>
            <a:off x="720000" y="1282202"/>
            <a:ext cx="10440000" cy="720000"/>
          </a:xfrm>
          <a:prstGeom prst="rect">
            <a:avLst/>
          </a:prstGeom>
        </p:spPr>
        <p:txBody>
          <a:bodyPr/>
          <a:lstStyle/>
          <a:p>
            <a:r>
              <a:rPr lang="en-US" sz="1800" dirty="0" err="1">
                <a:solidFill>
                  <a:srgbClr val="333333"/>
                </a:solidFill>
                <a:latin typeface="Arial"/>
                <a:ea typeface="Arial"/>
              </a:rPr>
              <a:t>当团队需要跨越</a:t>
            </a:r>
            <a:r>
              <a:rPr lang="en-US" sz="1800" dirty="0">
                <a:solidFill>
                  <a:srgbClr val="333333"/>
                </a:solidFill>
                <a:latin typeface="Arial"/>
                <a:ea typeface="Arial"/>
              </a:rPr>
              <a:t> Vibe Coding </a:t>
            </a:r>
            <a:r>
              <a:rPr lang="en-US" sz="1800" dirty="0" err="1">
                <a:solidFill>
                  <a:srgbClr val="333333"/>
                </a:solidFill>
                <a:latin typeface="Arial"/>
                <a:ea typeface="Arial"/>
              </a:rPr>
              <a:t>的边界，建立体系化的</a:t>
            </a:r>
            <a:r>
              <a:rPr lang="en-US" sz="1800" dirty="0">
                <a:solidFill>
                  <a:srgbClr val="333333"/>
                </a:solidFill>
                <a:latin typeface="Arial"/>
                <a:ea typeface="Arial"/>
              </a:rPr>
              <a:t> AI </a:t>
            </a:r>
            <a:r>
              <a:rPr lang="en-US" sz="1800" dirty="0" err="1">
                <a:solidFill>
                  <a:srgbClr val="333333"/>
                </a:solidFill>
                <a:latin typeface="Arial"/>
                <a:ea typeface="Arial"/>
              </a:rPr>
              <a:t>协作能力时，我们有更系统的进阶课程</a:t>
            </a:r>
            <a:r>
              <a:rPr lang="en-US" sz="1800" dirty="0">
                <a:solidFill>
                  <a:srgbClr val="333333"/>
                </a:solidFill>
                <a:latin typeface="Arial"/>
                <a:ea typeface="Arial"/>
              </a:rPr>
              <a:t>。</a:t>
            </a:r>
          </a:p>
        </p:txBody>
      </p:sp>
      <p:sp>
        <p:nvSpPr>
          <p:cNvPr id="100014" name="TextBox 3"/>
          <p:cNvSpPr txBox="1"/>
          <p:nvPr/>
        </p:nvSpPr>
        <p:spPr>
          <a:xfrm>
            <a:off x="720000" y="3123000"/>
            <a:ext cx="10440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000" b="1">
                <a:solidFill>
                  <a:srgbClr val="1A1A2E"/>
                </a:solidFill>
                <a:latin typeface="Arial"/>
                <a:ea typeface="Arial"/>
              </a:rPr>
              <a:t>从 Vibe Coding 到智能体工程</a:t>
            </a:r>
          </a:p>
        </p:txBody>
      </p:sp>
      <p:sp>
        <p:nvSpPr>
          <p:cNvPr id="100015" name="TextBox 4"/>
          <p:cNvSpPr txBox="1"/>
          <p:nvPr/>
        </p:nvSpPr>
        <p:spPr>
          <a:xfrm>
            <a:off x="720000" y="3663000"/>
            <a:ext cx="10440000" cy="432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600" dirty="0" err="1">
                <a:solidFill>
                  <a:srgbClr val="666666"/>
                </a:solidFill>
                <a:latin typeface="Arial"/>
                <a:ea typeface="Arial"/>
              </a:rPr>
              <a:t>一人快速搭建工具</a:t>
            </a:r>
            <a:r>
              <a:rPr lang="en-US" sz="1600" dirty="0">
                <a:solidFill>
                  <a:srgbClr val="666666"/>
                </a:solidFill>
                <a:latin typeface="Arial"/>
                <a:ea typeface="Arial"/>
              </a:rPr>
              <a:t> → </a:t>
            </a:r>
            <a:r>
              <a:rPr lang="en-US" sz="1600" dirty="0" err="1">
                <a:solidFill>
                  <a:srgbClr val="666666"/>
                </a:solidFill>
                <a:latin typeface="Arial"/>
                <a:ea typeface="Arial"/>
              </a:rPr>
              <a:t>团队体系化</a:t>
            </a:r>
            <a:r>
              <a:rPr lang="en-US" sz="1600" dirty="0">
                <a:solidFill>
                  <a:srgbClr val="666666"/>
                </a:solidFill>
                <a:latin typeface="Arial"/>
                <a:ea typeface="Arial"/>
              </a:rPr>
              <a:t> AI </a:t>
            </a:r>
            <a:r>
              <a:rPr lang="en-US" sz="1600" dirty="0" err="1">
                <a:solidFill>
                  <a:srgbClr val="666666"/>
                </a:solidFill>
                <a:latin typeface="Arial"/>
                <a:ea typeface="Arial"/>
              </a:rPr>
              <a:t>协作</a:t>
            </a:r>
            <a:endParaRPr lang="en-US" sz="1600" dirty="0">
              <a:solidFill>
                <a:srgbClr val="666666"/>
              </a:solidFill>
              <a:latin typeface="Arial"/>
              <a:ea typeface="Arial"/>
            </a:endParaRPr>
          </a:p>
        </p:txBody>
      </p:sp>
      <p:sp>
        <p:nvSpPr>
          <p:cNvPr id="100028" name="TextBox 5"/>
          <p:cNvSpPr/>
          <p:nvPr/>
        </p:nvSpPr>
        <p:spPr>
          <a:xfrm>
            <a:off x="720000" y="796202"/>
            <a:ext cx="2160000" cy="216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6" name="TextBox 1"/>
          <p:cNvSpPr txBox="1"/>
          <p:nvPr/>
        </p:nvSpPr>
        <p:spPr>
          <a:xfrm>
            <a:off x="720000" y="195088"/>
            <a:ext cx="1044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A1A2E"/>
                </a:solidFill>
                <a:latin typeface="Arial"/>
                <a:ea typeface="Arial"/>
              </a:rPr>
              <a:t>讲师介绍</a:t>
            </a:r>
          </a:p>
        </p:txBody>
      </p:sp>
      <p:sp>
        <p:nvSpPr>
          <p:cNvPr id="100017" name="TextBox 2"/>
          <p:cNvSpPr txBox="1"/>
          <p:nvPr/>
        </p:nvSpPr>
        <p:spPr>
          <a:xfrm>
            <a:off x="720000" y="1077088"/>
            <a:ext cx="9720000" cy="540000"/>
          </a:xfrm>
          <a:prstGeom prst="rect">
            <a:avLst/>
          </a:prstGeom>
        </p:spPr>
        <p:txBody>
          <a:bodyPr/>
          <a:lstStyle/>
          <a:p>
            <a:r>
              <a:rPr lang="en-US" sz="2400" b="1" dirty="0">
                <a:solidFill>
                  <a:srgbClr val="1A1A2E"/>
                </a:solidFill>
                <a:latin typeface="Arial"/>
                <a:ea typeface="Arial"/>
              </a:rPr>
              <a:t>Wayne Su</a:t>
            </a:r>
          </a:p>
        </p:txBody>
      </p:sp>
      <p:sp>
        <p:nvSpPr>
          <p:cNvPr id="100018" name="TextBox 3"/>
          <p:cNvSpPr txBox="1"/>
          <p:nvPr/>
        </p:nvSpPr>
        <p:spPr>
          <a:xfrm>
            <a:off x="720000" y="1707088"/>
            <a:ext cx="10440000" cy="36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Arial"/>
                <a:ea typeface="Arial"/>
              </a:rPr>
              <a:t>前独角兽创业公司商业化产品总监</a:t>
            </a:r>
          </a:p>
        </p:txBody>
      </p:sp>
      <p:sp>
        <p:nvSpPr>
          <p:cNvPr id="100019" name="TextBox 4"/>
          <p:cNvSpPr txBox="1"/>
          <p:nvPr/>
        </p:nvSpPr>
        <p:spPr>
          <a:xfrm>
            <a:off x="720000" y="2247088"/>
            <a:ext cx="10440000" cy="36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Arial"/>
                <a:ea typeface="Arial"/>
              </a:rPr>
              <a:t>百度商业运营平台主任架构师</a:t>
            </a:r>
          </a:p>
        </p:txBody>
      </p:sp>
      <p:sp>
        <p:nvSpPr>
          <p:cNvPr id="100020" name="TextBox 5"/>
          <p:cNvSpPr txBox="1"/>
          <p:nvPr/>
        </p:nvSpPr>
        <p:spPr>
          <a:xfrm>
            <a:off x="720000" y="2787088"/>
            <a:ext cx="10440000" cy="360000"/>
          </a:xfrm>
          <a:prstGeom prst="rect">
            <a:avLst/>
          </a:prstGeom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Arial"/>
                <a:ea typeface="Arial"/>
              </a:rPr>
              <a:t>微博商业运营平台技术负责人</a:t>
            </a:r>
          </a:p>
        </p:txBody>
      </p:sp>
      <p:sp>
        <p:nvSpPr>
          <p:cNvPr id="100021" name="TextBox 6"/>
          <p:cNvSpPr txBox="1"/>
          <p:nvPr/>
        </p:nvSpPr>
        <p:spPr>
          <a:xfrm>
            <a:off x="720000" y="3316202"/>
            <a:ext cx="1044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dirty="0">
                <a:solidFill>
                  <a:srgbClr val="999999"/>
                </a:solidFill>
                <a:latin typeface="Arial"/>
                <a:ea typeface="Arial"/>
              </a:rPr>
              <a:t>SAFe SPC </a:t>
            </a:r>
            <a:r>
              <a:rPr lang="en-US" sz="1400" dirty="0" err="1">
                <a:solidFill>
                  <a:srgbClr val="999999"/>
                </a:solidFill>
                <a:latin typeface="Arial"/>
                <a:ea typeface="Arial"/>
              </a:rPr>
              <a:t>认证敏捷教练</a:t>
            </a:r>
            <a:r>
              <a:rPr lang="zh-CN" altLang="en-US" sz="1400" dirty="0">
                <a:solidFill>
                  <a:srgbClr val="999999"/>
                </a:solidFill>
                <a:latin typeface="Arial"/>
                <a:ea typeface="Arial"/>
              </a:rPr>
              <a:t> </a:t>
            </a:r>
            <a:r>
              <a:rPr lang="en-US" sz="1400" b="1" dirty="0">
                <a:solidFill>
                  <a:srgbClr val="999999"/>
                </a:solidFill>
                <a:latin typeface="Arial"/>
                <a:ea typeface="Arial"/>
              </a:rPr>
              <a:t> · </a:t>
            </a:r>
            <a:r>
              <a:rPr lang="zh-CN" altLang="en-US" sz="1400" b="1" dirty="0">
                <a:solidFill>
                  <a:srgbClr val="999999"/>
                </a:solidFill>
                <a:latin typeface="Arial"/>
                <a:ea typeface="Arial"/>
              </a:rPr>
              <a:t> </a:t>
            </a:r>
            <a:r>
              <a:rPr lang="en-US" sz="1400" dirty="0">
                <a:solidFill>
                  <a:srgbClr val="999999"/>
                </a:solidFill>
                <a:latin typeface="Arial"/>
                <a:ea typeface="Arial"/>
              </a:rPr>
              <a:t>AI</a:t>
            </a:r>
            <a:r>
              <a:rPr lang="zh-CN" altLang="en-US" sz="1400" dirty="0">
                <a:solidFill>
                  <a:srgbClr val="999999"/>
                </a:solidFill>
                <a:latin typeface="Arial"/>
                <a:ea typeface="Arial"/>
              </a:rPr>
              <a:t> </a:t>
            </a:r>
            <a:r>
              <a:rPr lang="en-US" altLang="zh-CN" sz="1400" dirty="0">
                <a:solidFill>
                  <a:srgbClr val="999999"/>
                </a:solidFill>
                <a:latin typeface="Arial"/>
                <a:ea typeface="Arial"/>
              </a:rPr>
              <a:t>Native ·</a:t>
            </a:r>
            <a:r>
              <a:rPr lang="zh-CN" altLang="en-US" sz="1400" dirty="0">
                <a:solidFill>
                  <a:srgbClr val="999999"/>
                </a:solidFill>
                <a:latin typeface="Arial"/>
                <a:ea typeface="Arial"/>
              </a:rPr>
              <a:t> 实践者</a:t>
            </a:r>
            <a:r>
              <a:rPr lang="en-US" sz="1400" dirty="0" err="1">
                <a:solidFill>
                  <a:srgbClr val="999999"/>
                </a:solidFill>
                <a:latin typeface="Arial"/>
                <a:ea typeface="Arial"/>
              </a:rPr>
              <a:t>十余年互联网商业化与平台架构经验</a:t>
            </a:r>
            <a:endParaRPr lang="en-US" sz="1400" dirty="0">
              <a:solidFill>
                <a:srgbClr val="999999"/>
              </a:solidFill>
              <a:latin typeface="Arial"/>
              <a:ea typeface="Arial"/>
            </a:endParaRPr>
          </a:p>
        </p:txBody>
      </p:sp>
      <p:sp>
        <p:nvSpPr>
          <p:cNvPr id="100029" name="TextBox 7"/>
          <p:cNvSpPr/>
          <p:nvPr/>
        </p:nvSpPr>
        <p:spPr>
          <a:xfrm>
            <a:off x="720000" y="807088"/>
            <a:ext cx="2160000" cy="21600"/>
          </a:xfrm>
          <a:prstGeom prst="rect">
            <a:avLst/>
          </a:prstGeom>
          <a:solidFill>
            <a:srgbClr val="1A1A2E"/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等线"/>
        <a:cs typeface=""/>
      </a:majorFont>
      <a:minorFont>
        <a:latin typeface="Calibri"/>
        <a:ea typeface="等线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350</Words>
  <Application>Microsoft Macintosh PowerPoint</Application>
  <PresentationFormat>宽屏</PresentationFormat>
  <Paragraphs>75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0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威 苏</cp:lastModifiedBy>
  <cp:revision>2</cp:revision>
  <dcterms:created xsi:type="dcterms:W3CDTF">2026-07-27T10:06:48Z</dcterms:created>
  <dcterms:modified xsi:type="dcterms:W3CDTF">2026-07-27T12:44:51Z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1.0.142</vt:lpwstr>
  </property>
  <property fmtid="{D5CDD505-2E9C-101B-9397-08002B2CF9AE}" pid="3" name="OfficeCLI.LastModified">
    <vt:lpwstr>2026-07-27T10:25:49Z</vt:lpwstr>
  </property>
</Properties>
</file>