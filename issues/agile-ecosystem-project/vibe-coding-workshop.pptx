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4bce70dc59b4840" /><Relationship Type="http://schemas.openxmlformats.org/package/2006/relationships/metadata/core-properties" Target="/docProps/core.xml" Id="R079f1218ce8c43ce" /><Relationship Type="http://schemas.openxmlformats.org/officeDocument/2006/relationships/extended-properties" Target="/docProps/app.xml" Id="Rb067f64f31214ed9" /><Relationship Type="http://schemas.openxmlformats.org/officeDocument/2006/relationships/custom-properties" Target="/docProps/custom.xml" Id="R3f347ccccc02441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783fad064f241e0"/>
    <p:sldId id="257" r:id="Ra5406626885644fd"/>
    <p:sldId id="258" r:id="R97bebc6d91474395"/>
    <p:sldId id="259" r:id="Ra74ce7778e7249d6"/>
    <p:sldId id="260" r:id="R2add170760dc4475"/>
    <p:sldId id="261" r:id="R0a31c74bdd344a44"/>
    <p:sldId id="262" r:id="R6310aab20f0244b5"/>
    <p:sldId id="263" r:id="R05a8bf43a53d49a2"/>
    <p:sldId id="264" r:id="R0c3ad25950964476"/>
    <p:sldId id="265" r:id="R19bec3e8189942c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783fad064f241e0" /><Relationship Type="http://schemas.openxmlformats.org/officeDocument/2006/relationships/slide" Target="/ppt/slides/slide2.xml" Id="Ra5406626885644fd" /><Relationship Type="http://schemas.openxmlformats.org/officeDocument/2006/relationships/slide" Target="/ppt/slides/slide3.xml" Id="R97bebc6d91474395" /><Relationship Type="http://schemas.openxmlformats.org/officeDocument/2006/relationships/slide" Target="/ppt/slides/slide4.xml" Id="Ra74ce7778e7249d6" /><Relationship Type="http://schemas.openxmlformats.org/officeDocument/2006/relationships/slide" Target="/ppt/slides/slide5.xml" Id="R2add170760dc4475" /><Relationship Type="http://schemas.openxmlformats.org/officeDocument/2006/relationships/slide" Target="/ppt/slides/slide6.xml" Id="R0a31c74bdd344a44" /><Relationship Type="http://schemas.openxmlformats.org/officeDocument/2006/relationships/slide" Target="/ppt/slides/slide7.xml" Id="R6310aab20f0244b5" /><Relationship Type="http://schemas.openxmlformats.org/officeDocument/2006/relationships/slide" Target="/ppt/slides/slide8.xml" Id="R05a8bf43a53d49a2" /><Relationship Type="http://schemas.openxmlformats.org/officeDocument/2006/relationships/slide" Target="/ppt/slides/slide9.xml" Id="R0c3ad25950964476" /><Relationship Type="http://schemas.openxmlformats.org/officeDocument/2006/relationships/slide" Target="/ppt/slides/slide10.xml" Id="R19bec3e8189942c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31520389b46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19ff5e4aa43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813226e4c4d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b120ed57243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e358917ef4b2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48f0be1cef94ee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917a1fba0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5695eb11b48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f670728b747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2e2b2cf3d48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c91689b33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23907234345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8977329d142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5c70088fa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2fbbd50f247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c829ff4f34a2d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Vibe Coding 实战工作坊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360000" y="540000"/>
            <a:ext cx="10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Vibe Coding 实战工作坊</a:t>
            </a:r>
          </a:p>
        </p:txBody>
      </p:sp>
      <p:sp>
        <p:nvSpPr>
          <p:cNvPr id="100001" name="TextBox 3"/>
          <p:cNvSpPr txBox="1"/>
          <p:nvPr/>
        </p:nvSpPr>
        <p:spPr>
          <a:xfrm xmlns:a="http://schemas.openxmlformats.org/drawingml/2006/main">
            <a:off x="360000" y="180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E94560"/>
                </a:solidFill>
                <a:latin typeface="Arial"/>
                <a:ea typeface="Arial"/>
              </a:rPr>
              <a:t>2 天 · 用 AI 做出可复用、可迭代的电商运营工具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课程概览</a:t>
            </a:r>
          </a:p>
        </p:txBody>
      </p:sp>
      <p:sp>
        <p:nvSpPr>
          <p:cNvPr id="100002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课程概览</a:t>
            </a:r>
          </a:p>
        </p:txBody>
      </p:sp>
      <p:sp>
        <p:nvSpPr>
          <p:cNvPr id="100003" name="TextBox 3"/>
          <p:cNvSpPr txBox="1"/>
          <p:nvPr/>
        </p:nvSpPr>
        <p:spPr>
          <a:xfrm xmlns:a="http://schemas.openxmlformats.org/drawingml/2006/main">
            <a:off x="360000" y="126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时长：2 天（每天 7 小时）</a:t>
            </a:r>
          </a:p>
        </p:txBody>
      </p:sp>
      <p:sp>
        <p:nvSpPr>
          <p:cNvPr id="100004" name="TextBox 4"/>
          <p:cNvSpPr txBox="1"/>
          <p:nvPr/>
        </p:nvSpPr>
        <p:spPr>
          <a:xfrm xmlns:a="http://schemas.openxmlformats.org/drawingml/2006/main">
            <a:off x="360000" y="180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学员：已有 AI 使用基础，能手搓 HTML 或小工具</a:t>
            </a:r>
          </a:p>
        </p:txBody>
      </p:sp>
      <p:sp>
        <p:nvSpPr>
          <p:cNvPr id="100005" name="TextBox 5"/>
          <p:cNvSpPr txBox="1"/>
          <p:nvPr/>
        </p:nvSpPr>
        <p:spPr>
          <a:xfrm xmlns:a="http://schemas.openxmlformats.org/drawingml/2006/main">
            <a:off x="360000" y="234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Day 1：掌握 Vibe Coding 系统方法，独立完成电商场景小应用</a:t>
            </a:r>
          </a:p>
        </p:txBody>
      </p:sp>
      <p:sp>
        <p:nvSpPr>
          <p:cNvPr id="100006" name="TextBox 6"/>
          <p:cNvSpPr txBox="1"/>
          <p:nvPr/>
        </p:nvSpPr>
        <p:spPr>
          <a:xfrm xmlns:a="http://schemas.openxmlformats.org/drawingml/2006/main">
            <a:off x="360000" y="288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Day 2：学会沉淀可复用经验，团队协作完成 Hackathon 项目</a:t>
            </a:r>
          </a:p>
        </p:txBody>
      </p:sp>
      <p:sp>
        <p:nvSpPr>
          <p:cNvPr id="100007" name="TextBox 7"/>
          <p:cNvSpPr txBox="1"/>
          <p:nvPr/>
        </p:nvSpPr>
        <p:spPr>
          <a:xfrm xmlns:a="http://schemas.openxmlformats.org/drawingml/2006/main">
            <a:off x="360000" y="360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AAAAA"/>
                </a:solidFill>
                <a:latin typeface="Arial"/>
                <a:ea typeface="Arial"/>
              </a:rPr>
              <a:t>学员画像：数据运营、直播运营、客服岗位，平均 28 岁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84E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Day 1：Vibe Coding 系统化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Day 1：Vibe Coding 系统化</a:t>
            </a:r>
          </a:p>
        </p:txBody>
      </p:sp>
      <p:sp>
        <p:nvSpPr>
          <p:cNvPr id="100009" name="TextBox 3"/>
          <p:cNvSpPr txBox="1"/>
          <p:nvPr/>
        </p:nvSpPr>
        <p:spPr>
          <a:xfrm xmlns:a="http://schemas.openxmlformats.org/drawingml/2006/main">
            <a:off x="360000" y="126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① 开场：Vibe Coding 是什么</a:t>
            </a:r>
          </a:p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360000" y="180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从 Andrej Karpathy 2025 年创造的概念讲起——用自然语言描述意图，AI 生成代码，你来审查和迭代。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360000" y="252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② 结构化 Prompt 工程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360000" y="30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从"随手写 prompt 碰运气"到"结构化描述，效果稳定可预期"。实操：用结构化方法重写课前作业。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84E3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Day 1：工具链与实战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360000" y="54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③ 工具链实操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360000" y="108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从需求描述到一键部署的全流程。实操：搭建「电商数据查询工具」，30 分钟内拿到可分享链接。</a:t>
            </a:r>
          </a:p>
        </p:txBody>
      </p:sp>
      <p:sp>
        <p:nvSpPr>
          <p:cNvPr id="100015" name="TextBox 4"/>
          <p:cNvSpPr txBox="1"/>
          <p:nvPr/>
        </p:nvSpPr>
        <p:spPr>
          <a:xfrm xmlns:a="http://schemas.openxmlformats.org/drawingml/2006/main">
            <a:off x="360000" y="180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④ 电商场景深度实战</a:t>
            </a:r>
          </a:p>
        </p:txBody>
      </p:sp>
      <p:sp>
        <p:nvSpPr>
          <p:cNvPr id="100016" name="TextBox 5"/>
          <p:cNvSpPr txBox="1"/>
          <p:nvPr/>
        </p:nvSpPr>
        <p:spPr>
          <a:xfrm xmlns:a="http://schemas.openxmlformats.org/drawingml/2006/main">
            <a:off x="360000" y="234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数据运营（日报自动化）· 直播运营（数据看板）· 客服（智能知识库）· 通用（竞品监控）</a:t>
            </a:r>
          </a:p>
        </p:txBody>
      </p:sp>
      <p:sp>
        <p:nvSpPr>
          <p:cNvPr id="100017" name="TextBox 6"/>
          <p:cNvSpPr txBox="1"/>
          <p:nvPr/>
        </p:nvSpPr>
        <p:spPr>
          <a:xfrm xmlns:a="http://schemas.openxmlformats.org/drawingml/2006/main">
            <a:off x="360000" y="306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⑤ 成果展示 + 组队</a:t>
            </a:r>
          </a:p>
        </p:txBody>
      </p:sp>
      <p:sp>
        <p:nvSpPr>
          <p:cNvPr id="100018" name="TextBox 7"/>
          <p:cNvSpPr txBox="1"/>
          <p:nvPr/>
        </p:nvSpPr>
        <p:spPr>
          <a:xfrm xmlns:a="http://schemas.openxmlformats.org/drawingml/2006/main">
            <a:off x="360000" y="360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每人展示 Day 1 作品，讲师点评。自由组队，为 Day 2 Hackathon 选题。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17055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Day 2：经验沉淀 + Hackathon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Day 2：经验沉淀 + Hackathon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360000" y="126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⑥ 把经验沉淀为可复用模板</a:t>
            </a:r>
          </a:p>
        </p:txBody>
      </p:sp>
      <p:sp>
        <p:nvSpPr>
          <p:cNvPr id="100021" name="TextBox 4"/>
          <p:cNvSpPr txBox="1"/>
          <p:nvPr/>
        </p:nvSpPr>
        <p:spPr>
          <a:xfrm xmlns:a="http://schemas.openxmlformats.org/drawingml/2006/main">
            <a:off x="360000" y="180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数据口径、设计规范、常见坑写成 AI 可读的知识模板。实操：为 Day 1 项目写模板，对比前后差异。</a:t>
            </a:r>
          </a:p>
        </p:txBody>
      </p:sp>
      <p:sp>
        <p:nvSpPr>
          <p:cNvPr id="100022" name="TextBox 5"/>
          <p:cNvSpPr txBox="1"/>
          <p:nvPr/>
        </p:nvSpPr>
        <p:spPr>
          <a:xfrm xmlns:a="http://schemas.openxmlformats.org/drawingml/2006/main">
            <a:off x="360000" y="252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⑦ 团队 Hackathon</a:t>
            </a:r>
          </a:p>
        </p:txBody>
      </p:sp>
      <p:sp>
        <p:nvSpPr>
          <p:cNvPr id="100023" name="TextBox 6"/>
          <p:cNvSpPr txBox="1"/>
          <p:nvPr/>
        </p:nvSpPr>
        <p:spPr>
          <a:xfrm xmlns:a="http://schemas.openxmlformats.org/drawingml/2006/main">
            <a:off x="360000" y="30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2-3 人一组，电商场景自由选题。要求：必须部署上线 + 产出至少一个可复用模板。</a:t>
            </a:r>
          </a:p>
        </p:txBody>
      </p:sp>
      <p:sp>
        <p:nvSpPr>
          <p:cNvPr id="100024" name="TextBox 7"/>
          <p:cNvSpPr txBox="1"/>
          <p:nvPr/>
        </p:nvSpPr>
        <p:spPr>
          <a:xfrm xmlns:a="http://schemas.openxmlformats.org/drawingml/2006/main">
            <a:off x="360000" y="378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⑧ 项目展示 + 总结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17055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Hackathon 推荐选题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Hackathon 推荐选题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360000" y="126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直播数据看板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5400000" y="126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客服知识库 Chatbot</a:t>
            </a:r>
          </a:p>
        </p:txBody>
      </p:sp>
      <p:sp>
        <p:nvSpPr>
          <p:cNvPr id="100028" name="TextBox 5"/>
          <p:cNvSpPr txBox="1"/>
          <p:nvPr/>
        </p:nvSpPr>
        <p:spPr>
          <a:xfrm xmlns:a="http://schemas.openxmlformats.org/drawingml/2006/main">
            <a:off x="360000" y="198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大促作战指挥屏</a:t>
            </a:r>
          </a:p>
        </p:txBody>
      </p:sp>
      <p:sp>
        <p:nvSpPr>
          <p:cNvPr id="100029" name="TextBox 6"/>
          <p:cNvSpPr txBox="1"/>
          <p:nvPr/>
        </p:nvSpPr>
        <p:spPr>
          <a:xfrm xmlns:a="http://schemas.openxmlformats.org/drawingml/2006/main">
            <a:off x="5400000" y="198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运营日报自动生成器</a:t>
            </a:r>
          </a:p>
        </p:txBody>
      </p:sp>
      <p:sp>
        <p:nvSpPr>
          <p:cNvPr id="100030" name="TextBox 7"/>
          <p:cNvSpPr txBox="1"/>
          <p:nvPr/>
        </p:nvSpPr>
        <p:spPr>
          <a:xfrm xmlns:a="http://schemas.openxmlformats.org/drawingml/2006/main">
            <a:off x="360000" y="270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差评智能分析工具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学员收获</a:t>
            </a:r>
          </a:p>
        </p:txBody>
      </p:sp>
      <p:sp>
        <p:nvSpPr>
          <p:cNvPr id="100031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学员收获</a:t>
            </a:r>
          </a:p>
        </p:txBody>
      </p:sp>
      <p:sp>
        <p:nvSpPr>
          <p:cNvPr id="100032" name="TextBox 3"/>
          <p:cNvSpPr txBox="1"/>
          <p:nvPr/>
        </p:nvSpPr>
        <p:spPr>
          <a:xfrm xmlns:a="http://schemas.openxmlformats.org/drawingml/2006/main">
            <a:off x="360000" y="126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AI 协作：随手写 prompt → 结构化 Prompt，效果稳定</a:t>
            </a:r>
          </a:p>
        </p:txBody>
      </p:sp>
      <p:sp>
        <p:nvSpPr>
          <p:cNvPr id="100033" name="TextBox 4"/>
          <p:cNvSpPr txBox="1"/>
          <p:nvPr/>
        </p:nvSpPr>
        <p:spPr>
          <a:xfrm xmlns:a="http://schemas.openxmlformats.org/drawingml/2006/main">
            <a:off x="360000" y="198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工具链：可能只用过 ChatGPT → 掌握需求→开发→部署完整链路</a:t>
            </a:r>
          </a:p>
        </p:txBody>
      </p:sp>
      <p:sp>
        <p:nvSpPr>
          <p:cNvPr id="100034" name="TextBox 5"/>
          <p:cNvSpPr txBox="1"/>
          <p:nvPr/>
        </p:nvSpPr>
        <p:spPr>
          <a:xfrm xmlns:a="http://schemas.openxmlformats.org/drawingml/2006/main">
            <a:off x="360000" y="270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交付能力：能写出代码片段 → 独立交付完整可运行的应用</a:t>
            </a:r>
          </a:p>
        </p:txBody>
      </p:sp>
      <p:sp>
        <p:nvSpPr>
          <p:cNvPr id="100035" name="TextBox 6"/>
          <p:cNvSpPr txBox="1"/>
          <p:nvPr/>
        </p:nvSpPr>
        <p:spPr>
          <a:xfrm xmlns:a="http://schemas.openxmlformats.org/drawingml/2006/main">
            <a:off x="360000" y="342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知识沉淀：每次重新写 prompt → 经验可复用、可共享</a:t>
            </a:r>
          </a:p>
        </p:txBody>
      </p:sp>
      <p:sp>
        <p:nvSpPr>
          <p:cNvPr id="100036" name="TextBox 7"/>
          <p:cNvSpPr txBox="1"/>
          <p:nvPr/>
        </p:nvSpPr>
        <p:spPr>
          <a:xfrm xmlns:a="http://schemas.openxmlformats.org/drawingml/2006/main">
            <a:off x="360000" y="414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场景贴合：通用 demo → 电商运营场景定制，直接可用于工作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Vibe Coding 的局限</a:t>
            </a:r>
          </a:p>
        </p:txBody>
      </p:sp>
      <p:sp>
        <p:nvSpPr>
          <p:cNvPr id="100037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Vibe Coding 的局限</a:t>
            </a:r>
          </a:p>
        </p:txBody>
      </p:sp>
      <p:sp>
        <p:nvSpPr>
          <p:cNvPr id="100038" name="TextBox 3"/>
          <p:cNvSpPr txBox="1"/>
          <p:nvPr/>
        </p:nvSpPr>
        <p:spPr>
          <a:xfrm xmlns:a="http://schemas.openxmlformats.org/drawingml/2006/main">
            <a:off x="360000" y="126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94560"/>
                </a:solidFill>
                <a:latin typeface="Arial"/>
                <a:ea typeface="Arial"/>
              </a:rPr>
              <a:t>能解决的</a:t>
            </a:r>
          </a:p>
        </p:txBody>
      </p:sp>
      <p:sp>
        <p:nvSpPr>
          <p:cNvPr id="100039" name="TextBox 4"/>
          <p:cNvSpPr txBox="1"/>
          <p:nvPr/>
        </p:nvSpPr>
        <p:spPr>
          <a:xfrm xmlns:a="http://schemas.openxmlformats.org/drawingml/2006/main">
            <a:off x="5400000" y="1260000"/>
            <a:ext cx="50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94560"/>
                </a:solidFill>
                <a:latin typeface="Arial"/>
                <a:ea typeface="Arial"/>
              </a:rPr>
              <a:t>暂时解决不了的</a:t>
            </a:r>
          </a:p>
        </p:txBody>
      </p:sp>
      <p:sp>
        <p:nvSpPr>
          <p:cNvPr id="100040" name="TextBox 5"/>
          <p:cNvSpPr txBox="1"/>
          <p:nvPr/>
        </p:nvSpPr>
        <p:spPr>
          <a:xfrm xmlns:a="http://schemas.openxmlformats.org/drawingml/2006/main">
            <a:off x="360000" y="198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✓ 一个人快速搭建工具</a:t>
            </a:r>
          </a:p>
        </p:txBody>
      </p:sp>
      <p:sp>
        <p:nvSpPr>
          <p:cNvPr id="100041" name="TextBox 6"/>
          <p:cNvSpPr txBox="1"/>
          <p:nvPr/>
        </p:nvSpPr>
        <p:spPr>
          <a:xfrm xmlns:a="http://schemas.openxmlformats.org/drawingml/2006/main">
            <a:off x="5400000" y="198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✗ 团队多人协作，输出质量参差不齐</a:t>
            </a:r>
          </a:p>
        </p:txBody>
      </p:sp>
      <p:sp>
        <p:nvSpPr>
          <p:cNvPr id="100042" name="TextBox 7"/>
          <p:cNvSpPr txBox="1"/>
          <p:nvPr/>
        </p:nvSpPr>
        <p:spPr>
          <a:xfrm xmlns:a="http://schemas.openxmlformats.org/drawingml/2006/main">
            <a:off x="360000" y="252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✓ 单次对话完成一个功能</a:t>
            </a:r>
          </a:p>
        </p:txBody>
      </p:sp>
      <p:sp>
        <p:nvSpPr>
          <p:cNvPr id="100043" name="TextBox 8"/>
          <p:cNvSpPr txBox="1"/>
          <p:nvPr/>
        </p:nvSpPr>
        <p:spPr>
          <a:xfrm xmlns:a="http://schemas.openxmlformats.org/drawingml/2006/main">
            <a:off x="5400000" y="252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✗ 需求变更后，AI 缺乏历史上下文理解</a:t>
            </a:r>
          </a:p>
        </p:txBody>
      </p:sp>
      <p:sp>
        <p:nvSpPr>
          <p:cNvPr id="100044" name="TextBox 9"/>
          <p:cNvSpPr txBox="1"/>
          <p:nvPr/>
        </p:nvSpPr>
        <p:spPr>
          <a:xfrm xmlns:a="http://schemas.openxmlformats.org/drawingml/2006/main">
            <a:off x="360000" y="306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✓ 快速验证想法、做出 Demo</a:t>
            </a:r>
          </a:p>
        </p:txBody>
      </p:sp>
      <p:sp>
        <p:nvSpPr>
          <p:cNvPr id="100045" name="TextBox 10"/>
          <p:cNvSpPr txBox="1"/>
          <p:nvPr/>
        </p:nvSpPr>
        <p:spPr>
          <a:xfrm xmlns:a="http://schemas.openxmlformats.org/drawingml/2006/main">
            <a:off x="5400000" y="306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✗ 代码质量、安全性、可维护性保障</a:t>
            </a:r>
          </a:p>
        </p:txBody>
      </p:sp>
      <p:sp>
        <p:nvSpPr>
          <p:cNvPr id="100046" name="TextBox 11"/>
          <p:cNvSpPr txBox="1"/>
          <p:nvPr/>
        </p:nvSpPr>
        <p:spPr>
          <a:xfrm xmlns:a="http://schemas.openxmlformats.org/drawingml/2006/main">
            <a:off x="360000" y="360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✓ 凭个人经验写 prompt</a:t>
            </a:r>
          </a:p>
        </p:txBody>
      </p:sp>
      <p:sp>
        <p:nvSpPr>
          <p:cNvPr id="100047" name="TextBox 12"/>
          <p:cNvSpPr txBox="1"/>
          <p:nvPr/>
        </p:nvSpPr>
        <p:spPr>
          <a:xfrm xmlns:a="http://schemas.openxmlformats.org/drawingml/2006/main">
            <a:off x="5400000" y="360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DDDDD"/>
                </a:solidFill>
                <a:latin typeface="Arial"/>
                <a:ea typeface="Arial"/>
              </a:rPr>
              <a:t>✗ 将经验体系化，让团队稳定复现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94560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进阶课程：智能体工程实战</a:t>
            </a:r>
          </a:p>
        </p:txBody>
      </p:sp>
      <p:sp>
        <p:nvSpPr>
          <p:cNvPr id="100048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进阶课程：智能体工程实战</a:t>
            </a:r>
          </a:p>
        </p:txBody>
      </p:sp>
      <p:sp>
        <p:nvSpPr>
          <p:cNvPr id="100049" name="TextBox 3"/>
          <p:cNvSpPr txBox="1"/>
          <p:nvPr/>
        </p:nvSpPr>
        <p:spPr>
          <a:xfrm xmlns:a="http://schemas.openxmlformats.org/drawingml/2006/main">
            <a:off x="360000" y="14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Arial"/>
                <a:ea typeface="Arial"/>
              </a:rPr>
              <a:t>当团队需要跨越 Vibe Coding 的边界，建立体系化的 AI 协作能力时，我们有更系统的进阶课程。</a:t>
            </a:r>
          </a:p>
        </p:txBody>
      </p:sp>
      <p:sp>
        <p:nvSpPr>
          <p:cNvPr id="100050" name="TextBox 4"/>
          <p:cNvSpPr txBox="1"/>
          <p:nvPr/>
        </p:nvSpPr>
        <p:spPr>
          <a:xfrm xmlns:a="http://schemas.openxmlformats.org/drawingml/2006/main">
            <a:off x="360000" y="252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从 Vibe Coding 到智能体工程</a:t>
            </a:r>
          </a:p>
        </p:txBody>
      </p:sp>
      <p:sp>
        <p:nvSpPr>
          <p:cNvPr id="100051" name="TextBox 5"/>
          <p:cNvSpPr txBox="1"/>
          <p:nvPr/>
        </p:nvSpPr>
        <p:spPr>
          <a:xfrm xmlns:a="http://schemas.openxmlformats.org/drawingml/2006/main">
            <a:off x="360000" y="324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DDDD"/>
                </a:solidFill>
                <a:latin typeface="Arial"/>
                <a:ea typeface="Arial"/>
              </a:rPr>
              <a:t>一人快速搭建工具 → 团队体系化 AI 协作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讲师介绍</a:t>
            </a:r>
          </a:p>
        </p:txBody>
      </p:sp>
      <p:sp>
        <p:nvSpPr>
          <p:cNvPr id="100052" name="TextBox 2"/>
          <p:cNvSpPr txBox="1"/>
          <p:nvPr/>
        </p:nvSpPr>
        <p:spPr>
          <a:xfrm xmlns:a="http://schemas.openxmlformats.org/drawingml/2006/main">
            <a:off x="360000" y="28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Arial"/>
                <a:ea typeface="Arial"/>
              </a:rPr>
              <a:t>讲师介绍</a:t>
            </a:r>
          </a:p>
        </p:txBody>
      </p:sp>
      <p:sp>
        <p:nvSpPr>
          <p:cNvPr id="100053" name="TextBox 3"/>
          <p:cNvSpPr txBox="1"/>
          <p:nvPr/>
        </p:nvSpPr>
        <p:spPr>
          <a:xfrm xmlns:a="http://schemas.openxmlformats.org/drawingml/2006/main">
            <a:off x="360000" y="12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E94560"/>
                </a:solidFill>
                <a:latin typeface="Arial"/>
                <a:ea typeface="Arial"/>
              </a:rPr>
              <a:t>苏威</a:t>
            </a:r>
          </a:p>
        </p:txBody>
      </p:sp>
      <p:sp>
        <p:nvSpPr>
          <p:cNvPr id="100054" name="TextBox 4"/>
          <p:cNvSpPr txBox="1"/>
          <p:nvPr/>
        </p:nvSpPr>
        <p:spPr>
          <a:xfrm xmlns:a="http://schemas.openxmlformats.org/drawingml/2006/main">
            <a:off x="360000" y="1980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前独角兽创业公司商业化产品总监</a:t>
            </a:r>
          </a:p>
        </p:txBody>
      </p:sp>
      <p:sp>
        <p:nvSpPr>
          <p:cNvPr id="100055" name="TextBox 5"/>
          <p:cNvSpPr txBox="1"/>
          <p:nvPr/>
        </p:nvSpPr>
        <p:spPr>
          <a:xfrm xmlns:a="http://schemas.openxmlformats.org/drawingml/2006/main">
            <a:off x="360000" y="2520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百度商业运营平台主任架构师</a:t>
            </a:r>
          </a:p>
        </p:txBody>
      </p:sp>
      <p:sp>
        <p:nvSpPr>
          <p:cNvPr id="100056" name="TextBox 6"/>
          <p:cNvSpPr txBox="1"/>
          <p:nvPr/>
        </p:nvSpPr>
        <p:spPr>
          <a:xfrm xmlns:a="http://schemas.openxmlformats.org/drawingml/2006/main">
            <a:off x="360000" y="3060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DDDDD"/>
                </a:solidFill>
                <a:latin typeface="Arial"/>
                <a:ea typeface="Arial"/>
              </a:rPr>
              <a:t>微博商业运营平台技术负责人</a:t>
            </a:r>
          </a:p>
        </p:txBody>
      </p:sp>
      <p:sp>
        <p:nvSpPr>
          <p:cNvPr id="100057" name="TextBox 7"/>
          <p:cNvSpPr txBox="1"/>
          <p:nvPr/>
        </p:nvSpPr>
        <p:spPr>
          <a:xfrm xmlns:a="http://schemas.openxmlformats.org/drawingml/2006/main">
            <a:off x="360000" y="3780000"/>
            <a:ext cx="100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AAAAA"/>
                </a:solidFill>
                <a:latin typeface="Arial"/>
                <a:ea typeface="Arial"/>
              </a:rPr>
              <a:t>SAFe SPC 认证敏捷教练 · 十余年互联网商业化与平台架构经验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2026-07-27T09:53:00Z</dcterms:created>
  <cp:lastModifiedBy>OfficeCLI</cp:lastModifiedBy>
  <dcterms:modified xsi:type="dcterms:W3CDTF">2026-07-27T09:53:00Z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1.0.142</vt:lpwstr>
  </op:property>
  <op:property fmtid="{D5CDD505-2E9C-101B-9397-08002B2CF9AE}" pid="3" name="OfficeCLI.LastModified">
    <vt:lpwstr xmlns:vt="http://schemas.openxmlformats.org/officeDocument/2006/docPropsVTypes">2026-07-27T10:01:47Z</vt:lpwstr>
  </op:property>
</op:Properties>
</file>